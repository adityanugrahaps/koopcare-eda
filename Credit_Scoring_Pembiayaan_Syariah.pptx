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Pembiayaan Syariah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Kelayakan Nasabah Berbasis Machine Learning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176272"/>
            <a:ext cx="274320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2377440" cy="685800"/>
          </a:xfrm>
          <a:prstGeom prst="rect">
            <a:avLst/>
          </a:prstGeom>
          <a:solidFill>
            <a:srgbClr val="1E4F82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50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307.511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679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331720"/>
            <a:ext cx="2377440" cy="685800"/>
          </a:xfrm>
          <a:prstGeom prst="rect">
            <a:avLst/>
          </a:prstGeom>
          <a:solidFill>
            <a:srgbClr val="1E4F82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350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Algoritma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2679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331720"/>
            <a:ext cx="2377440" cy="685800"/>
          </a:xfrm>
          <a:prstGeom prst="rect">
            <a:avLst/>
          </a:prstGeom>
          <a:solidFill>
            <a:srgbClr val="1E4F82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350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2679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Mentah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21408" y="3520440"/>
            <a:ext cx="25603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9424" y="340156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7440" y="32461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24528" y="3520440"/>
            <a:ext cx="25603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2544" y="340156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&gt;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32461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 ML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19088" y="3520440"/>
            <a:ext cx="256032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3401568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&gt;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32461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246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LAYAK / TIDAK LAYAK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A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Prediksi Kredit Syariah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24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Kelas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92608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  Nasabah Lancar (0)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256032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 Gagal Bayar (1)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</a:rPr>
              <a:t>91.9%</a:t>
            </a:r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  |  </a:t>
            </a:r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</a:rPr>
              <a:t>8.1%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Ratio: 11.39 :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960120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960120"/>
            <a:ext cx="73152" cy="65836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9966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246.008 baris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51960" y="13075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Training (80%)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1709928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1709928"/>
            <a:ext cx="73152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74650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61.503 baris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51960" y="2057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Testing (20%)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2459736"/>
            <a:ext cx="4663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0" y="2459736"/>
            <a:ext cx="73152" cy="658368"/>
          </a:xfrm>
          <a:prstGeom prst="rect">
            <a:avLst/>
          </a:prstGeom>
          <a:solidFill>
            <a:srgbClr val="148A7A"/>
          </a:solidFill>
          <a:ln w="12700">
            <a:solidFill>
              <a:srgbClr val="148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24963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Fitur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51960" y="28072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 · Keuangan · Skor Eksternal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841248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3192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ColumnTransformer  →  SimpleImputer  →  StandardScaler + OneHotEncoder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4069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untuk memastikan konsistensi data training dan testing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6 Algoritma ML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10896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463040"/>
                <a:gridCol w="146304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4114800"/>
            <a:ext cx="841248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D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model menggunakan threshold optimal via Precision-Recall curve · Oversampling tidak digunakan agar threshold tetap bisnis-valid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Model — XGBoost (Terbaik)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65176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86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0.7656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52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868680"/>
            <a:ext cx="2651760" cy="7132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886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0.5312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0" y="1252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868680"/>
            <a:ext cx="2651760" cy="713232"/>
          </a:xfrm>
          <a:prstGeom prst="rect">
            <a:avLst/>
          </a:prstGeom>
          <a:solidFill>
            <a:srgbClr val="148A7A"/>
          </a:solidFill>
          <a:ln w="12700">
            <a:solidFill>
              <a:srgbClr val="148A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886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035040" y="1252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755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1920240" cy="914400"/>
          </a:xfrm>
          <a:prstGeom prst="rect">
            <a:avLst/>
          </a:prstGeom>
          <a:solidFill>
            <a:srgbClr val="E8F5E9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12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= 50.297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 Prediksi Lancar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23160" y="2103120"/>
            <a:ext cx="1920240" cy="914400"/>
          </a:xfrm>
          <a:prstGeom prst="rect">
            <a:avLst/>
          </a:prstGeom>
          <a:solidFill>
            <a:srgbClr val="FFF3E0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212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6.241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2316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Prediksi Gagal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127248"/>
            <a:ext cx="1920240" cy="914400"/>
          </a:xfrm>
          <a:prstGeom prst="rect">
            <a:avLst/>
          </a:prstGeom>
          <a:solidFill>
            <a:srgbClr val="FDECEA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369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2.812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36301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Lolos Padahal Gagal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23160" y="3127248"/>
            <a:ext cx="1920240" cy="914400"/>
          </a:xfrm>
          <a:prstGeom prst="rect">
            <a:avLst/>
          </a:prstGeom>
          <a:solidFill>
            <a:srgbClr val="E8F5E9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2369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2.153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423160" y="36301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 Prediksi Gagal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1938528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Prediksi 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 rot="16200000">
            <a:off x="73152" y="2286000"/>
            <a:ext cx="320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Aktual ↓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1719072"/>
            <a:ext cx="4206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1783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Tambahan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9160" y="2176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29400" y="2176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0.2538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709160" y="2542032"/>
            <a:ext cx="384048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9400" y="2633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0.4336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709160" y="2999232"/>
            <a:ext cx="384048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090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29400" y="3090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85.1%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709160" y="3456432"/>
            <a:ext cx="3840480" cy="0"/>
          </a:xfrm>
          <a:prstGeom prst="line">
            <a:avLst/>
          </a:prstGeom>
          <a:noFill/>
          <a:ln w="6350">
            <a:solidFill>
              <a:srgbClr val="E0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547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29400" y="3547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Test: 61.503 baris  ·  Threshold: 0.666  ·  Model: XGBoost Tuned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— XGBoost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55448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146304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Konfigurasi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n_estimators=300, max_depth=6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Tuning 1 [BEST]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5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n_estimators=500, max_depth=4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Tuning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learning_rate=0.03, max_depth=5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2651760"/>
            <a:ext cx="2651760" cy="5943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65760" y="2651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+0.0016 ↑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2651760"/>
            <a:ext cx="265176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0" y="2651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+0.0031 ↑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035040" y="2651760"/>
            <a:ext cx="2651760" cy="594360"/>
          </a:xfrm>
          <a:prstGeom prst="rect">
            <a:avLst/>
          </a:prstGeom>
          <a:solidFill>
            <a:srgbClr val="148A7A"/>
          </a:solidFill>
          <a:ln w="12700">
            <a:solidFill>
              <a:srgbClr val="148A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2651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+5% ↑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5760" y="3429000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3493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Final: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730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n_estimators=500  |  max_depth=4  |  learning_rate=0.05  |  subsample=0.8  |  colsample_bytree=0.8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menggunakan AUC-ROC sebagai metrik optimasi · 5-fold cross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Saving &amp; Deployment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8600" y="896112"/>
            <a:ext cx="1627632" cy="475488"/>
          </a:xfrm>
          <a:prstGeom prst="roundRect">
            <a:avLst>
              <a:gd name="adj" fmla="val 13462"/>
            </a:avLst>
          </a:prstGeom>
          <a:solidFill>
            <a:srgbClr val="1A3A5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8961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Field Input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65376" y="914400"/>
            <a:ext cx="137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5C"/>
                </a:solidFill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93392" y="896112"/>
            <a:ext cx="1627632" cy="475488"/>
          </a:xfrm>
          <a:prstGeom prst="roundRect">
            <a:avLst>
              <a:gd name="adj" fmla="val 13462"/>
            </a:avLst>
          </a:prstGeom>
          <a:solidFill>
            <a:srgbClr val="1A3A5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93392" y="8961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30168" y="914400"/>
            <a:ext cx="137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5C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67328" y="896112"/>
            <a:ext cx="1627632" cy="475488"/>
          </a:xfrm>
          <a:prstGeom prst="roundRect">
            <a:avLst>
              <a:gd name="adj" fmla="val 13462"/>
            </a:avLst>
          </a:prstGeom>
          <a:solidFill>
            <a:srgbClr val="1A3A5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8961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04104" y="914400"/>
            <a:ext cx="137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5C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32120" y="896112"/>
            <a:ext cx="1627632" cy="475488"/>
          </a:xfrm>
          <a:prstGeom prst="roundRect">
            <a:avLst>
              <a:gd name="adj" fmla="val 13462"/>
            </a:avLst>
          </a:prstGeom>
          <a:solidFill>
            <a:srgbClr val="1A3A5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8961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68896" y="914400"/>
            <a:ext cx="137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5C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96912" y="896112"/>
            <a:ext cx="1627632" cy="475488"/>
          </a:xfrm>
          <a:prstGeom prst="roundRect">
            <a:avLst>
              <a:gd name="adj" fmla="val 13462"/>
            </a:avLst>
          </a:prstGeom>
          <a:solidFill>
            <a:srgbClr val="1A3A5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6912" y="896112"/>
            <a:ext cx="1627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536192"/>
            <a:ext cx="2697480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157276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0040" y="199339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&lt; 40%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1536192"/>
            <a:ext cx="2697480" cy="9601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157276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REVIEW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46120" y="199339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40 – 68%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1536192"/>
            <a:ext cx="2697480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72200" y="157276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LAYAK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72200" y="199339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&gt;= 68%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651760"/>
            <a:ext cx="4023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651760"/>
            <a:ext cx="73152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26791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42.414 Nasabah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1792" y="2990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LAYAK (87%)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651760"/>
            <a:ext cx="402336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2651760"/>
            <a:ext cx="73152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26791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6.330 Nasabah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056632" y="2990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 (13%)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456432"/>
            <a:ext cx="8412480" cy="438912"/>
          </a:xfrm>
          <a:prstGeom prst="rect">
            <a:avLst/>
          </a:prstGeom>
          <a:solidFill>
            <a:srgbClr val="E8F0F8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502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best_model_abel.pkl  —  model + preprocessor + threshold + features  ·  Format: joblib / pickle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023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siap untuk BMT, Koperasi Syariah, atau integrasi REST API via Flask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828800" y="960120"/>
            <a:ext cx="5486400" cy="841248"/>
          </a:xfrm>
          <a:prstGeom prst="rect">
            <a:avLst/>
          </a:prstGeom>
          <a:solidFill>
            <a:srgbClr val="1E4F82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960120"/>
            <a:ext cx="5486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AUC: 0.7641 → 0.7656</a:t>
            </a:r>
            <a:pPr algn="ctr" indent="0" marL="0">
              <a:buNone/>
            </a:pPr>
            <a:r>
              <a:rPr lang="en-US" sz="1600" dirty="0">
                <a:solidFill>
                  <a:srgbClr val="A8C8F0"/>
                </a:solidFill>
              </a:rPr>
              <a:t>   |   </a:t>
            </a:r>
            <a:pPr algn="ctr" indent="0" marL="0">
              <a:buNone/>
            </a:pPr>
            <a:r>
              <a:rPr lang="en-US" sz="2000" b="1" dirty="0">
                <a:solidFill>
                  <a:srgbClr val="7EFF9C"/>
                </a:solidFill>
              </a:rPr>
              <a:t>Gini: 0.5281 → 0.5312  +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23360" cy="749808"/>
          </a:xfrm>
          <a:prstGeom prst="rect">
            <a:avLst/>
          </a:prstGeom>
          <a:solidFill>
            <a:srgbClr val="1E4F82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64008" cy="749808"/>
          </a:xfrm>
          <a:prstGeom prst="rect">
            <a:avLst/>
          </a:prstGeom>
          <a:solidFill>
            <a:srgbClr val="7EFF9C"/>
          </a:solidFill>
          <a:ln w="12700">
            <a:solidFill>
              <a:srgbClr val="7EFF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9202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 Dibandingkan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4023360" cy="749808"/>
          </a:xfrm>
          <a:prstGeom prst="rect">
            <a:avLst/>
          </a:prstGeom>
          <a:solidFill>
            <a:srgbClr val="1E4F82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20240"/>
            <a:ext cx="64008" cy="749808"/>
          </a:xfrm>
          <a:prstGeom prst="rect">
            <a:avLst/>
          </a:prstGeom>
          <a:solidFill>
            <a:srgbClr val="7EFF9C"/>
          </a:solidFill>
          <a:ln w="12700">
            <a:solidFill>
              <a:srgbClr val="7EFF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9202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Terbaik Setelah Tuning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023360" cy="749808"/>
          </a:xfrm>
          <a:prstGeom prst="rect">
            <a:avLst/>
          </a:prstGeom>
          <a:solidFill>
            <a:srgbClr val="1E4F82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64008" cy="749808"/>
          </a:xfrm>
          <a:prstGeom prst="rect">
            <a:avLst/>
          </a:prstGeom>
          <a:solidFill>
            <a:srgbClr val="7EFF9C"/>
          </a:solidFill>
          <a:ln w="12700">
            <a:solidFill>
              <a:srgbClr val="7EFF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834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&gt;= 0.50  —  Standar Bank Terpenuhi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023360" cy="749808"/>
          </a:xfrm>
          <a:prstGeom prst="rect">
            <a:avLst/>
          </a:prstGeom>
          <a:solidFill>
            <a:srgbClr val="1E4F82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834640"/>
            <a:ext cx="64008" cy="749808"/>
          </a:xfrm>
          <a:prstGeom prst="rect">
            <a:avLst/>
          </a:prstGeom>
          <a:solidFill>
            <a:srgbClr val="7EFF9C"/>
          </a:solidFill>
          <a:ln w="12700">
            <a:solidFill>
              <a:srgbClr val="7EFF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834640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Deploy  —  BMT / Koperasi Syariah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3794760"/>
            <a:ext cx="9144000" cy="50292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2219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A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XGBoost  ·  LightGBM  ·  CatBoost  ·  Flask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Scoring Pembiayaan Syariah</dc:title>
  <dc:subject>PptxGenJS Presentation</dc:subject>
  <dc:creator>ArunikaCakrawala</dc:creator>
  <cp:lastModifiedBy>ArunikaCakrawala</cp:lastModifiedBy>
  <cp:revision>1</cp:revision>
  <dcterms:created xsi:type="dcterms:W3CDTF">2026-05-03T07:49:21Z</dcterms:created>
  <dcterms:modified xsi:type="dcterms:W3CDTF">2026-05-03T07:49:21Z</dcterms:modified>
</cp:coreProperties>
</file>